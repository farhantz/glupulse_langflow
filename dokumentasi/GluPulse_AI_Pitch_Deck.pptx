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0122e0ec-77ad-eaa5-01c0-b8adbc9d4063}">
          <p14:sldIdLst>
            <p14:sldId id="256"/>
          </p14:sldIdLst>
        </p14:section>
        <p14:section name="Masalah &amp; Solusi" id="{db438fe0-68ae-1658-5e6c-dc56c191508a}">
          <p14:sldIdLst>
            <p14:sldId id="257"/>
            <p14:sldId id="258"/>
            <p14:sldId id="259"/>
          </p14:sldIdLst>
        </p14:section>
        <p14:section name="Arsitektur" id="{a5ffaedf-13ab-e653-9864-b4135be8aacc}">
          <p14:sldIdLst>
            <p14:sldId id="260"/>
          </p14:sldIdLst>
        </p14:section>
        <p14:section name="Demo &amp; Dampak" id="{2e68d121-0e19-d804-049b-d7c23fabc8b8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Pembuka: GluPulse AI menjaga keselamatan pasien diabetes lewat triase deterministik + nutrisi presisi. Isi nama tim di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760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94944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FarhanTZ/glupulse_langflow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FarhanTZ/glupulse_langflow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theme"/>
          <p:cNvSpPr txBox="1"/>
          <p:nvPr/>
        </p:nvSpPr>
        <p:spPr>
          <a:xfrm>
            <a:off x="548640" y="731520"/>
            <a:ext cx="26517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HEALTHCARE &amp; WELLBEING</a:t>
            </a:r>
            <a:endParaRPr lang="en-US" sz="1200" dirty="0"/>
          </a:p>
        </p:txBody>
      </p:sp>
      <p:sp>
        <p:nvSpPr>
          <p:cNvPr id="3" name="tag-team"/>
          <p:cNvSpPr txBox="1"/>
          <p:nvPr/>
        </p:nvSpPr>
        <p:spPr>
          <a:xfrm>
            <a:off x="3337560" y="731520"/>
            <a:ext cx="274320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Tim: [Nama Tim / Inisiator]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2344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GluPulse AI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Autonomous Clinical Triage &amp; Knowledge-Grounded Nutrition Agent for Diabetes Care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Menjaga keselamatan pasien diabetes melalui triase cerdas deterministik dan rekomendasi nutrisi presisi 24/7.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POWERED BY</a:t>
            </a:r>
            <a:endParaRPr lang="en-US" sz="1200" dirty="0"/>
          </a:p>
        </p:txBody>
      </p:sp>
      <p:sp>
        <p:nvSpPr>
          <p:cNvPr id="8" name="badge0"/>
          <p:cNvSpPr txBox="1"/>
          <p:nvPr/>
        </p:nvSpPr>
        <p:spPr>
          <a:xfrm>
            <a:off x="548640" y="5257800"/>
            <a:ext cx="146304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IBM Langflow</a:t>
            </a:r>
            <a:endParaRPr lang="en-US" sz="1300" dirty="0"/>
          </a:p>
        </p:txBody>
      </p:sp>
      <p:sp>
        <p:nvSpPr>
          <p:cNvPr id="9" name="badge1"/>
          <p:cNvSpPr txBox="1"/>
          <p:nvPr/>
        </p:nvSpPr>
        <p:spPr>
          <a:xfrm>
            <a:off x="2148840" y="5257800"/>
            <a:ext cx="146304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IBM Bob</a:t>
            </a:r>
            <a:endParaRPr lang="en-US" sz="1300" dirty="0"/>
          </a:p>
        </p:txBody>
      </p:sp>
      <p:sp>
        <p:nvSpPr>
          <p:cNvPr id="10" name="badge2"/>
          <p:cNvSpPr txBox="1"/>
          <p:nvPr/>
        </p:nvSpPr>
        <p:spPr>
          <a:xfrm>
            <a:off x="3749040" y="5257800"/>
            <a:ext cx="146304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Astra DB</a:t>
            </a:r>
            <a:endParaRPr lang="en-US" sz="1300" dirty="0"/>
          </a:p>
        </p:txBody>
      </p:sp>
      <p:sp>
        <p:nvSpPr>
          <p:cNvPr id="11" name="laptop-bezel"/>
          <p:cNvSpPr/>
          <p:nvPr/>
        </p:nvSpPr>
        <p:spPr>
          <a:xfrm>
            <a:off x="6583680" y="914400"/>
            <a:ext cx="5029200" cy="2651760"/>
          </a:xfrm>
          <a:prstGeom prst="roundRect">
            <a:avLst>
              <a:gd name="adj" fmla="val 5172"/>
            </a:avLst>
          </a:prstGeom>
          <a:solidFill>
            <a:srgbClr val="E2E8F0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4000"/>
              </a:srgbClr>
            </a:outerShdw>
          </a:effectLst>
        </p:spPr>
      </p:sp>
      <p:pic>
        <p:nvPicPr>
          <p:cNvPr id="12" name="laptop-screen" descr="img/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051560"/>
            <a:ext cx="4754880" cy="2357861"/>
          </a:xfrm>
          <a:prstGeom prst="rect">
            <a:avLst/>
          </a:prstGeom>
        </p:spPr>
      </p:pic>
      <p:sp>
        <p:nvSpPr>
          <p:cNvPr id="13" name="laptop-base"/>
          <p:cNvSpPr/>
          <p:nvPr/>
        </p:nvSpPr>
        <p:spPr>
          <a:xfrm>
            <a:off x="6309360" y="3566160"/>
            <a:ext cx="5577840" cy="182880"/>
          </a:xfrm>
          <a:prstGeom prst="roundRect">
            <a:avLst>
              <a:gd name="adj" fmla="val 40000"/>
            </a:avLst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4" name="gl-ok-card"/>
          <p:cNvSpPr/>
          <p:nvPr/>
        </p:nvSpPr>
        <p:spPr>
          <a:xfrm>
            <a:off x="6583680" y="4160520"/>
            <a:ext cx="2423160" cy="182880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4000"/>
              </a:srgbClr>
            </a:outerShdw>
          </a:effectLst>
        </p:spPr>
      </p:sp>
      <p:sp>
        <p:nvSpPr>
          <p:cNvPr id="15" name="gl-ok-icon"/>
          <p:cNvSpPr/>
          <p:nvPr/>
        </p:nvSpPr>
        <p:spPr>
          <a:xfrm>
            <a:off x="6766560" y="4343400"/>
            <a:ext cx="502920" cy="5029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6" name="gl-ok-ico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290" y="4469130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406640" y="44074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Glukosa darah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766560" y="4983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118 mg/dL</a:t>
            </a:r>
            <a:endParaRPr lang="en-US" sz="3400" dirty="0"/>
          </a:p>
        </p:txBody>
      </p:sp>
      <p:sp>
        <p:nvSpPr>
          <p:cNvPr id="19" name="gl-ok-chip"/>
          <p:cNvSpPr txBox="1"/>
          <p:nvPr/>
        </p:nvSpPr>
        <p:spPr>
          <a:xfrm>
            <a:off x="6766560" y="5577840"/>
            <a:ext cx="1371600" cy="292608"/>
          </a:xfrm>
          <a:prstGeom prst="roundRect">
            <a:avLst>
              <a:gd name="adj" fmla="val 625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STABIL</a:t>
            </a:r>
            <a:endParaRPr lang="en-US" sz="1200" dirty="0"/>
          </a:p>
        </p:txBody>
      </p:sp>
      <p:sp>
        <p:nvSpPr>
          <p:cNvPr id="20" name="gl-crit-card"/>
          <p:cNvSpPr/>
          <p:nvPr/>
        </p:nvSpPr>
        <p:spPr>
          <a:xfrm>
            <a:off x="9189720" y="4160520"/>
            <a:ext cx="2423160" cy="182880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4000"/>
              </a:srgbClr>
            </a:outerShdw>
          </a:effectLst>
        </p:spPr>
      </p:sp>
      <p:sp>
        <p:nvSpPr>
          <p:cNvPr id="21" name="gl-crit-icon"/>
          <p:cNvSpPr/>
          <p:nvPr/>
        </p:nvSpPr>
        <p:spPr>
          <a:xfrm>
            <a:off x="9372600" y="434340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2" name="gl-crit-icon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8330" y="4469130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012680" y="44074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Glukosa darah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9372600" y="4983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58 mg/dL</a:t>
            </a:r>
            <a:endParaRPr lang="en-US" sz="3400" dirty="0"/>
          </a:p>
        </p:txBody>
      </p:sp>
      <p:sp>
        <p:nvSpPr>
          <p:cNvPr id="25" name="gl-crit-chip"/>
          <p:cNvSpPr txBox="1"/>
          <p:nvPr/>
        </p:nvSpPr>
        <p:spPr>
          <a:xfrm>
            <a:off x="9372600" y="5577840"/>
            <a:ext cx="1371600" cy="292608"/>
          </a:xfrm>
          <a:prstGeom prst="roundRect">
            <a:avLst>
              <a:gd name="adj" fmla="val 62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KRITIS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5943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github.com/FarhanTZ/glupulse_langflow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Masalah yang mendesak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Penyandang diabetes mandiri sering salah mengambil keputusan saat glukosa darah berfluktuasi.</a:t>
            </a:r>
            <a:endParaRPr lang="en-US" sz="1800" dirty="0"/>
          </a:p>
        </p:txBody>
      </p:sp>
      <p:sp>
        <p:nvSpPr>
          <p:cNvPr id="4" name="prob-card0"/>
          <p:cNvSpPr/>
          <p:nvPr/>
        </p:nvSpPr>
        <p:spPr>
          <a:xfrm>
            <a:off x="548640" y="2103120"/>
            <a:ext cx="3474720" cy="356616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prob-icon0"/>
          <p:cNvSpPr/>
          <p:nvPr/>
        </p:nvSpPr>
        <p:spPr>
          <a:xfrm>
            <a:off x="868680" y="2423160"/>
            <a:ext cx="914400" cy="9144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prob-icon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51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Fatal Hallucination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1605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AI generik menyuruh jalan santai saat pasien lemas, padahal gula &lt; 70 mg/dL: risiko koma hipoglikemia.</a:t>
            </a:r>
            <a:endParaRPr lang="en-US" sz="1600" dirty="0"/>
          </a:p>
        </p:txBody>
      </p:sp>
      <p:sp>
        <p:nvSpPr>
          <p:cNvPr id="9" name="prob-card1"/>
          <p:cNvSpPr/>
          <p:nvPr/>
        </p:nvSpPr>
        <p:spPr>
          <a:xfrm>
            <a:off x="4343400" y="2103120"/>
            <a:ext cx="3474720" cy="356616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prob-icon1"/>
          <p:cNvSpPr/>
          <p:nvPr/>
        </p:nvSpPr>
        <p:spPr>
          <a:xfrm>
            <a:off x="4663440" y="2423160"/>
            <a:ext cx="914400" cy="9144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1" name="prob-icon1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6517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Uncalibrated Diets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41605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Panduan makan online mengabaikan Glycemic Load (GL) per porsi bahan makanan lokal.</a:t>
            </a:r>
            <a:endParaRPr lang="en-US" sz="1600" dirty="0"/>
          </a:p>
        </p:txBody>
      </p:sp>
      <p:sp>
        <p:nvSpPr>
          <p:cNvPr id="14" name="prob-card2"/>
          <p:cNvSpPr/>
          <p:nvPr/>
        </p:nvSpPr>
        <p:spPr>
          <a:xfrm>
            <a:off x="8138160" y="2103120"/>
            <a:ext cx="3474720" cy="356616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prob-icon2"/>
          <p:cNvSpPr/>
          <p:nvPr/>
        </p:nvSpPr>
        <p:spPr>
          <a:xfrm>
            <a:off x="8458200" y="2423160"/>
            <a:ext cx="914400" cy="9144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6" name="prob-icon2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6517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Healthcare Burden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41605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Waktu konsultasi terbatas, pasien bingung mengambil keputusan harian di rumah.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Solusi: GluPulse AI</a:t>
            </a:r>
            <a:endParaRPr lang="en-US" sz="3600" dirty="0"/>
          </a:p>
        </p:txBody>
      </p:sp>
      <p:sp>
        <p:nvSpPr>
          <p:cNvPr id="3" name="sol-panel"/>
          <p:cNvSpPr/>
          <p:nvPr/>
        </p:nvSpPr>
        <p:spPr>
          <a:xfrm>
            <a:off x="548640" y="1645920"/>
            <a:ext cx="4206240" cy="4480560"/>
          </a:xfrm>
          <a:prstGeom prst="roundRect">
            <a:avLst>
              <a:gd name="adj" fmla="val 3261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ol-shield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5" name="sol-shield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171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01752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Agen cerdas diabetes yang menaruh Clinical Safety Guardrails sebelum rekomendasi gaya hidup.</a:t>
            </a:r>
            <a:endParaRPr lang="en-US" sz="2600" dirty="0"/>
          </a:p>
        </p:txBody>
      </p:sp>
      <p:sp>
        <p:nvSpPr>
          <p:cNvPr id="7" name="sol-row0"/>
          <p:cNvSpPr/>
          <p:nvPr/>
        </p:nvSpPr>
        <p:spPr>
          <a:xfrm>
            <a:off x="5120640" y="1645920"/>
            <a:ext cx="6492240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sol-icon0"/>
          <p:cNvSpPr/>
          <p:nvPr/>
        </p:nvSpPr>
        <p:spPr>
          <a:xfrm>
            <a:off x="5394960" y="1901952"/>
            <a:ext cx="822960" cy="8229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9" name="sol-icon0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10769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9224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Zero-Latency Triage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6492240" y="22860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Deteksi instan status kritis vs stabil dalam hitungan detik</a:t>
            </a:r>
            <a:endParaRPr lang="en-US" sz="1600" dirty="0"/>
          </a:p>
        </p:txBody>
      </p:sp>
      <p:sp>
        <p:nvSpPr>
          <p:cNvPr id="12" name="sol-row1"/>
          <p:cNvSpPr/>
          <p:nvPr/>
        </p:nvSpPr>
        <p:spPr>
          <a:xfrm>
            <a:off x="5120640" y="3218688"/>
            <a:ext cx="6492240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sol-icon1"/>
          <p:cNvSpPr/>
          <p:nvPr/>
        </p:nvSpPr>
        <p:spPr>
          <a:xfrm>
            <a:off x="5394960" y="3474720"/>
            <a:ext cx="822960" cy="8229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4" name="sol-icon1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36804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92240" y="34015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RAG Nutrition Engine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6492240" y="385876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Menu berbasis pedoman endokrinologi (dr. Malika Muchsin)</a:t>
            </a:r>
            <a:endParaRPr lang="en-US" sz="1600" dirty="0"/>
          </a:p>
        </p:txBody>
      </p:sp>
      <p:sp>
        <p:nvSpPr>
          <p:cNvPr id="17" name="sol-row2"/>
          <p:cNvSpPr/>
          <p:nvPr/>
        </p:nvSpPr>
        <p:spPr>
          <a:xfrm>
            <a:off x="5120640" y="4791456"/>
            <a:ext cx="6492240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sol-icon2"/>
          <p:cNvSpPr/>
          <p:nvPr/>
        </p:nvSpPr>
        <p:spPr>
          <a:xfrm>
            <a:off x="5394960" y="5047488"/>
            <a:ext cx="822960" cy="8229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9" name="sol-icon2-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0" y="5253228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92240" y="49743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Deterministic Guardrail</a:t>
            </a:r>
            <a:endParaRPr lang="en-US" sz="2100" dirty="0"/>
          </a:p>
        </p:txBody>
      </p:sp>
      <p:sp>
        <p:nvSpPr>
          <p:cNvPr id="21" name="Text 15"/>
          <p:cNvSpPr txBox="1"/>
          <p:nvPr/>
        </p:nvSpPr>
        <p:spPr>
          <a:xfrm>
            <a:off x="6492240" y="543153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Jalur darurat &amp; edukasi harian dipisah kaku lewat If-Else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Fitur unggulan</a:t>
            </a:r>
            <a:endParaRPr lang="en-US" sz="3600" dirty="0"/>
          </a:p>
        </p:txBody>
      </p:sp>
      <p:sp>
        <p:nvSpPr>
          <p:cNvPr id="3" name="feat-card0"/>
          <p:cNvSpPr/>
          <p:nvPr/>
        </p:nvSpPr>
        <p:spPr>
          <a:xfrm>
            <a:off x="548640" y="1645920"/>
            <a:ext cx="3474720" cy="4434840"/>
          </a:xfrm>
          <a:prstGeom prst="roundRect">
            <a:avLst>
              <a:gd name="adj" fmla="val 394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4000"/>
              </a:srgbClr>
            </a:outerShdw>
          </a:effectLst>
        </p:spPr>
      </p:sp>
      <p:sp>
        <p:nvSpPr>
          <p:cNvPr id="4" name="feat-icon0"/>
          <p:cNvSpPr/>
          <p:nvPr/>
        </p:nvSpPr>
        <p:spPr>
          <a:xfrm>
            <a:off x="868680" y="1965960"/>
            <a:ext cx="914400" cy="9144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feat-icon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94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108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Clinical Triage Guardrail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9776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Memblokir izin olahraga seketika bila ada anomali atau gejala kritis, lalu memandu protokol Rule of 15.</a:t>
            </a:r>
            <a:endParaRPr lang="en-US" sz="1500" dirty="0"/>
          </a:p>
        </p:txBody>
      </p:sp>
      <p:sp>
        <p:nvSpPr>
          <p:cNvPr id="8" name="feat-chip00"/>
          <p:cNvSpPr txBox="1"/>
          <p:nvPr/>
        </p:nvSpPr>
        <p:spPr>
          <a:xfrm>
            <a:off x="868680" y="5349240"/>
            <a:ext cx="1417320" cy="347472"/>
          </a:xfrm>
          <a:prstGeom prst="roundRect">
            <a:avLst>
              <a:gd name="adj" fmla="val 5263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Rule of 15</a:t>
            </a:r>
            <a:endParaRPr lang="en-US" sz="1200" dirty="0"/>
          </a:p>
        </p:txBody>
      </p:sp>
      <p:sp>
        <p:nvSpPr>
          <p:cNvPr id="9" name="feat-chip01"/>
          <p:cNvSpPr txBox="1"/>
          <p:nvPr/>
        </p:nvSpPr>
        <p:spPr>
          <a:xfrm>
            <a:off x="2359152" y="5349240"/>
            <a:ext cx="1417320" cy="347472"/>
          </a:xfrm>
          <a:prstGeom prst="roundRect">
            <a:avLst>
              <a:gd name="adj" fmla="val 5263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Blok olahraga</a:t>
            </a:r>
            <a:endParaRPr lang="en-US" sz="1200" dirty="0"/>
          </a:p>
        </p:txBody>
      </p:sp>
      <p:sp>
        <p:nvSpPr>
          <p:cNvPr id="10" name="feat-card1"/>
          <p:cNvSpPr/>
          <p:nvPr/>
        </p:nvSpPr>
        <p:spPr>
          <a:xfrm>
            <a:off x="4343400" y="1645920"/>
            <a:ext cx="3474720" cy="4434840"/>
          </a:xfrm>
          <a:prstGeom prst="roundRect">
            <a:avLst>
              <a:gd name="adj" fmla="val 394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4000"/>
              </a:srgbClr>
            </a:outerShdw>
          </a:effectLst>
        </p:spPr>
      </p:sp>
      <p:sp>
        <p:nvSpPr>
          <p:cNvPr id="11" name="feat-icon1"/>
          <p:cNvSpPr/>
          <p:nvPr/>
        </p:nvSpPr>
        <p:spPr>
          <a:xfrm>
            <a:off x="4663440" y="1965960"/>
            <a:ext cx="914400" cy="9144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2" name="feat-icon1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1945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3108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RAG Nutrition &amp; Activity Architect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9776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Menu harian aman dari basis vektor Astra DB: GI &lt; 55, GL &lt; 15 per porsi, serat 25–30 g/hari.</a:t>
            </a:r>
            <a:endParaRPr lang="en-US" sz="1500" dirty="0"/>
          </a:p>
        </p:txBody>
      </p:sp>
      <p:sp>
        <p:nvSpPr>
          <p:cNvPr id="15" name="feat-chip10"/>
          <p:cNvSpPr txBox="1"/>
          <p:nvPr/>
        </p:nvSpPr>
        <p:spPr>
          <a:xfrm>
            <a:off x="4663440" y="5349240"/>
            <a:ext cx="868680" cy="347472"/>
          </a:xfrm>
          <a:prstGeom prst="roundRect">
            <a:avLst>
              <a:gd name="adj" fmla="val 5263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GI &lt; 55</a:t>
            </a:r>
            <a:endParaRPr lang="en-US" sz="1200" dirty="0"/>
          </a:p>
        </p:txBody>
      </p:sp>
      <p:sp>
        <p:nvSpPr>
          <p:cNvPr id="16" name="feat-chip11"/>
          <p:cNvSpPr txBox="1"/>
          <p:nvPr/>
        </p:nvSpPr>
        <p:spPr>
          <a:xfrm>
            <a:off x="5605272" y="5349240"/>
            <a:ext cx="868680" cy="347472"/>
          </a:xfrm>
          <a:prstGeom prst="roundRect">
            <a:avLst>
              <a:gd name="adj" fmla="val 5263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GL &lt; 15</a:t>
            </a:r>
            <a:endParaRPr lang="en-US" sz="1200" dirty="0"/>
          </a:p>
        </p:txBody>
      </p:sp>
      <p:sp>
        <p:nvSpPr>
          <p:cNvPr id="17" name="feat-chip12"/>
          <p:cNvSpPr txBox="1"/>
          <p:nvPr/>
        </p:nvSpPr>
        <p:spPr>
          <a:xfrm>
            <a:off x="6547104" y="5349240"/>
            <a:ext cx="960120" cy="347472"/>
          </a:xfrm>
          <a:prstGeom prst="roundRect">
            <a:avLst>
              <a:gd name="adj" fmla="val 5263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25–30 g</a:t>
            </a:r>
            <a:endParaRPr lang="en-US" sz="1200" dirty="0"/>
          </a:p>
        </p:txBody>
      </p:sp>
      <p:sp>
        <p:nvSpPr>
          <p:cNvPr id="18" name="feat-card2"/>
          <p:cNvSpPr/>
          <p:nvPr/>
        </p:nvSpPr>
        <p:spPr>
          <a:xfrm>
            <a:off x="8138160" y="1645920"/>
            <a:ext cx="3474720" cy="4434840"/>
          </a:xfrm>
          <a:prstGeom prst="roundRect">
            <a:avLst>
              <a:gd name="adj" fmla="val 394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4000"/>
              </a:srgbClr>
            </a:outerShdw>
          </a:effectLst>
        </p:spPr>
      </p:sp>
      <p:sp>
        <p:nvSpPr>
          <p:cNvPr id="19" name="feat-icon2"/>
          <p:cNvSpPr/>
          <p:nvPr/>
        </p:nvSpPr>
        <p:spPr>
          <a:xfrm>
            <a:off x="8458200" y="1965960"/>
            <a:ext cx="914400" cy="9144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0" name="feat-icon2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1945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58200" y="3108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Pharmacology &amp; Hydration Checker</a:t>
            </a:r>
            <a:endParaRPr lang="en-US" sz="2100" dirty="0"/>
          </a:p>
        </p:txBody>
      </p:sp>
      <p:sp>
        <p:nvSpPr>
          <p:cNvPr id="22" name="Text 17"/>
          <p:cNvSpPr txBox="1"/>
          <p:nvPr/>
        </p:nvSpPr>
        <p:spPr>
          <a:xfrm>
            <a:off x="8458200" y="39776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Pengingat risiko obat pemicu hipoglikemia, aturan Metformin, dan target hidrasi.</a:t>
            </a:r>
            <a:endParaRPr lang="en-US" sz="1500" dirty="0"/>
          </a:p>
        </p:txBody>
      </p:sp>
      <p:sp>
        <p:nvSpPr>
          <p:cNvPr id="23" name="feat-chip20"/>
          <p:cNvSpPr txBox="1"/>
          <p:nvPr/>
        </p:nvSpPr>
        <p:spPr>
          <a:xfrm>
            <a:off x="8458200" y="5349240"/>
            <a:ext cx="1097280" cy="347472"/>
          </a:xfrm>
          <a:prstGeom prst="roundRect">
            <a:avLst>
              <a:gd name="adj" fmla="val 5263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Sulfonilurea</a:t>
            </a:r>
            <a:endParaRPr lang="en-US" sz="1200" dirty="0"/>
          </a:p>
        </p:txBody>
      </p:sp>
      <p:sp>
        <p:nvSpPr>
          <p:cNvPr id="24" name="feat-chip21"/>
          <p:cNvSpPr txBox="1"/>
          <p:nvPr/>
        </p:nvSpPr>
        <p:spPr>
          <a:xfrm>
            <a:off x="9628632" y="5349240"/>
            <a:ext cx="777240" cy="347472"/>
          </a:xfrm>
          <a:prstGeom prst="roundRect">
            <a:avLst>
              <a:gd name="adj" fmla="val 5263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Insulin</a:t>
            </a:r>
            <a:endParaRPr lang="en-US" sz="1200" dirty="0"/>
          </a:p>
        </p:txBody>
      </p:sp>
      <p:sp>
        <p:nvSpPr>
          <p:cNvPr id="25" name="feat-chip22"/>
          <p:cNvSpPr txBox="1"/>
          <p:nvPr/>
        </p:nvSpPr>
        <p:spPr>
          <a:xfrm>
            <a:off x="10479024" y="5349240"/>
            <a:ext cx="960120" cy="347472"/>
          </a:xfrm>
          <a:prstGeom prst="roundRect">
            <a:avLst>
              <a:gd name="adj" fmla="val 5263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Metformin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Arsitektur &amp; ekosistem IBM</a:t>
            </a:r>
            <a:endParaRPr lang="en-US" sz="3600" dirty="0"/>
          </a:p>
        </p:txBody>
      </p:sp>
      <p:sp>
        <p:nvSpPr>
          <p:cNvPr id="3" name="arch-fe"/>
          <p:cNvSpPr txBox="1"/>
          <p:nvPr/>
        </p:nvSpPr>
        <p:spPr>
          <a:xfrm>
            <a:off x="548640" y="1600200"/>
            <a:ext cx="2286000" cy="1325880"/>
          </a:xfrm>
          <a:prstGeom prst="roundRect">
            <a:avLst>
              <a:gd name="adj" fmla="val 10345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Frontend</a:t>
            </a:r>
            <a:endParaRPr lang="en-US" sz="1200" dirty="0"/>
          </a:p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React + Vite + TS</a:t>
            </a:r>
            <a:endParaRPr lang="en-US" sz="1200" dirty="0"/>
          </a:p>
        </p:txBody>
      </p:sp>
      <p:sp>
        <p:nvSpPr>
          <p:cNvPr id="4" name="arch-bob"/>
          <p:cNvSpPr txBox="1"/>
          <p:nvPr/>
        </p:nvSpPr>
        <p:spPr>
          <a:xfrm>
            <a:off x="3447288" y="1600200"/>
            <a:ext cx="2286000" cy="1325880"/>
          </a:xfrm>
          <a:prstGeom prst="roundRect">
            <a:avLst>
              <a:gd name="adj" fmla="val 10345"/>
            </a:avLst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Middleware</a:t>
            </a:r>
            <a:endParaRPr lang="en-US" sz="1200" dirty="0"/>
          </a:p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IBM Bob API Engine</a:t>
            </a:r>
            <a:endParaRPr lang="en-US" sz="1200" dirty="0"/>
          </a:p>
        </p:txBody>
      </p:sp>
      <p:sp>
        <p:nvSpPr>
          <p:cNvPr id="5" name="arch-lf"/>
          <p:cNvSpPr txBox="1"/>
          <p:nvPr/>
        </p:nvSpPr>
        <p:spPr>
          <a:xfrm>
            <a:off x="6345936" y="1600200"/>
            <a:ext cx="2286000" cy="1325880"/>
          </a:xfrm>
          <a:prstGeom prst="roundRect">
            <a:avLst>
              <a:gd name="adj" fmla="val 10345"/>
            </a:avLst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Flow Orchestrator</a:t>
            </a:r>
            <a:endParaRPr lang="en-US" sz="1200" dirty="0"/>
          </a:p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IBM Langflow</a:t>
            </a:r>
            <a:endParaRPr lang="en-US" sz="1200" dirty="0"/>
          </a:p>
        </p:txBody>
      </p:sp>
      <p:sp>
        <p:nvSpPr>
          <p:cNvPr id="6" name="arch-arrow0"/>
          <p:cNvSpPr/>
          <p:nvPr/>
        </p:nvSpPr>
        <p:spPr>
          <a:xfrm>
            <a:off x="2880360" y="2263140"/>
            <a:ext cx="521208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arch-arrow1"/>
          <p:cNvSpPr/>
          <p:nvPr/>
        </p:nvSpPr>
        <p:spPr>
          <a:xfrm>
            <a:off x="5779008" y="2263140"/>
            <a:ext cx="521208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arch-arrow2"/>
          <p:cNvSpPr/>
          <p:nvPr/>
        </p:nvSpPr>
        <p:spPr>
          <a:xfrm>
            <a:off x="8677656" y="2263140"/>
            <a:ext cx="521208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arch-astra"/>
          <p:cNvSpPr txBox="1"/>
          <p:nvPr/>
        </p:nvSpPr>
        <p:spPr>
          <a:xfrm>
            <a:off x="9244584" y="1600200"/>
            <a:ext cx="2286000" cy="612648"/>
          </a:xfrm>
          <a:prstGeom prst="roundRect">
            <a:avLst>
              <a:gd name="adj" fmla="val 17910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Astra DB · Vector Store</a:t>
            </a:r>
            <a:endParaRPr lang="en-US" sz="1400" dirty="0"/>
          </a:p>
        </p:txBody>
      </p:sp>
      <p:sp>
        <p:nvSpPr>
          <p:cNvPr id="10" name="arch-gemini"/>
          <p:cNvSpPr txBox="1"/>
          <p:nvPr/>
        </p:nvSpPr>
        <p:spPr>
          <a:xfrm>
            <a:off x="9244584" y="2313432"/>
            <a:ext cx="2286000" cy="612648"/>
          </a:xfrm>
          <a:prstGeom prst="roundRect">
            <a:avLst>
              <a:gd name="adj" fmla="val 17910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Gemini 1.5 Flash · LLM</a:t>
            </a:r>
            <a:endParaRPr lang="en-US" sz="1400" dirty="0"/>
          </a:p>
        </p:txBody>
      </p:sp>
      <p:sp>
        <p:nvSpPr>
          <p:cNvPr id="11" name="role-card0"/>
          <p:cNvSpPr/>
          <p:nvPr/>
        </p:nvSpPr>
        <p:spPr>
          <a:xfrm>
            <a:off x="548640" y="3337560"/>
            <a:ext cx="5394960" cy="2788920"/>
          </a:xfrm>
          <a:prstGeom prst="roundRect">
            <a:avLst>
              <a:gd name="adj" fmla="val 491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role-icon0"/>
          <p:cNvSpPr/>
          <p:nvPr/>
        </p:nvSpPr>
        <p:spPr>
          <a:xfrm>
            <a:off x="822960" y="3611880"/>
            <a:ext cx="731520" cy="7315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3" name="role-icon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79476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783080" y="36118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Peran IBM Langflow</a:t>
            </a:r>
            <a:endParaRPr lang="en-US" sz="2200" dirty="0"/>
          </a:p>
        </p:txBody>
      </p:sp>
      <p:sp>
        <p:nvSpPr>
          <p:cNvPr id="15" name="role-list0"/>
          <p:cNvSpPr txBox="1"/>
          <p:nvPr/>
        </p:nvSpPr>
        <p:spPr>
          <a:xfrm>
            <a:off x="960120" y="45262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Multi-node workflow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Klasifikasi LLM Auditor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Conditional branching (If-Else)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RAG retrieval</a:t>
            </a:r>
            <a:endParaRPr lang="en-US" sz="1600" dirty="0"/>
          </a:p>
        </p:txBody>
      </p:sp>
      <p:sp>
        <p:nvSpPr>
          <p:cNvPr id="16" name="role-card1"/>
          <p:cNvSpPr/>
          <p:nvPr/>
        </p:nvSpPr>
        <p:spPr>
          <a:xfrm>
            <a:off x="6217920" y="3337560"/>
            <a:ext cx="5394960" cy="2788920"/>
          </a:xfrm>
          <a:prstGeom prst="roundRect">
            <a:avLst>
              <a:gd name="adj" fmla="val 491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role-icon1"/>
          <p:cNvSpPr/>
          <p:nvPr/>
        </p:nvSpPr>
        <p:spPr>
          <a:xfrm>
            <a:off x="6492240" y="3611880"/>
            <a:ext cx="731520" cy="7315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8" name="role-icon1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7947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452360" y="36118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Peran IBM Bob</a:t>
            </a:r>
            <a:endParaRPr lang="en-US" sz="2200" dirty="0"/>
          </a:p>
        </p:txBody>
      </p:sp>
      <p:sp>
        <p:nvSpPr>
          <p:cNvPr id="20" name="role-list1"/>
          <p:cNvSpPr txBox="1"/>
          <p:nvPr/>
        </p:nvSpPr>
        <p:spPr>
          <a:xfrm>
            <a:off x="6629400" y="45262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Glue code &amp; middleware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Keamanan token x-api-key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Parsing payload JSON kompleks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Normalisasi respons ke UI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Antarmuka &amp; skenario nyata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TAMPILAN UI</a:t>
            </a:r>
            <a:endParaRPr lang="en-US" sz="1400" dirty="0"/>
          </a:p>
        </p:txBody>
      </p:sp>
      <p:sp>
        <p:nvSpPr>
          <p:cNvPr id="4" name="demo-landing-frame"/>
          <p:cNvSpPr/>
          <p:nvPr/>
        </p:nvSpPr>
        <p:spPr>
          <a:xfrm>
            <a:off x="576072" y="1764792"/>
            <a:ext cx="3054096" cy="1579007"/>
          </a:xfrm>
          <a:prstGeom prst="roundRect">
            <a:avLst>
              <a:gd name="adj" fmla="val 810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4000"/>
              </a:srgbClr>
            </a:outerShdw>
          </a:effectLst>
        </p:spPr>
      </p:sp>
      <p:pic>
        <p:nvPicPr>
          <p:cNvPr id="5" name="demo-landing" descr="img/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926080" cy="1450991"/>
          </a:xfrm>
          <a:prstGeom prst="rect">
            <a:avLst/>
          </a:prstGeom>
        </p:spPr>
      </p:pic>
      <p:sp>
        <p:nvSpPr>
          <p:cNvPr id="6" name="demo-form-frame"/>
          <p:cNvSpPr/>
          <p:nvPr/>
        </p:nvSpPr>
        <p:spPr>
          <a:xfrm>
            <a:off x="576072" y="3456432"/>
            <a:ext cx="3054096" cy="2171485"/>
          </a:xfrm>
          <a:prstGeom prst="roundRect">
            <a:avLst>
              <a:gd name="adj" fmla="val 589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4000"/>
              </a:srgbClr>
            </a:outerShdw>
          </a:effectLst>
        </p:spPr>
      </p:sp>
      <p:pic>
        <p:nvPicPr>
          <p:cNvPr id="7" name="demo-form" descr="img/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20440"/>
            <a:ext cx="2926080" cy="204346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1605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JALUR DARURAT</a:t>
            </a:r>
            <a:endParaRPr lang="en-US" sz="1400" dirty="0"/>
          </a:p>
        </p:txBody>
      </p:sp>
      <p:sp>
        <p:nvSpPr>
          <p:cNvPr id="9" name="demo-emerg-frame"/>
          <p:cNvSpPr/>
          <p:nvPr/>
        </p:nvSpPr>
        <p:spPr>
          <a:xfrm>
            <a:off x="4096512" y="1764792"/>
            <a:ext cx="2825496" cy="3178243"/>
          </a:xfrm>
          <a:prstGeom prst="roundRect">
            <a:avLst>
              <a:gd name="adj" fmla="val 453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4000"/>
              </a:srgbClr>
            </a:outerShdw>
          </a:effectLst>
        </p:spPr>
      </p:sp>
      <p:pic>
        <p:nvPicPr>
          <p:cNvPr id="10" name="demo-emerg" descr="img/emer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828800"/>
            <a:ext cx="2697480" cy="305022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160520" y="5212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Glukosa 52 mg/dL + tremor → olahraga diblokir, Rule of 15 aktif.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749808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JALUR STABIL</a:t>
            </a:r>
            <a:endParaRPr lang="en-US" sz="1400" dirty="0"/>
          </a:p>
        </p:txBody>
      </p:sp>
      <p:sp>
        <p:nvSpPr>
          <p:cNvPr id="13" name="demo-nutri-frame"/>
          <p:cNvSpPr/>
          <p:nvPr/>
        </p:nvSpPr>
        <p:spPr>
          <a:xfrm>
            <a:off x="7434072" y="1764792"/>
            <a:ext cx="4242816" cy="2200157"/>
          </a:xfrm>
          <a:prstGeom prst="roundRect">
            <a:avLst>
              <a:gd name="adj" fmla="val 581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4000"/>
              </a:srgbClr>
            </a:outerShdw>
          </a:effectLst>
        </p:spPr>
      </p:sp>
      <p:pic>
        <p:nvPicPr>
          <p:cNvPr id="14" name="demo-nutri" descr="img/nutr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828800"/>
            <a:ext cx="4114800" cy="2072141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498080" y="41605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Glukosa terkontrol → menu GI/GL rendah per porsi dari Astra DB.</a:t>
            </a:r>
            <a:endParaRPr lang="en-US" sz="1500" dirty="0"/>
          </a:p>
        </p:txBody>
      </p:sp>
      <p:sp>
        <p:nvSpPr>
          <p:cNvPr id="16" name="demo-chip"/>
          <p:cNvSpPr txBox="1"/>
          <p:nvPr/>
        </p:nvSpPr>
        <p:spPr>
          <a:xfrm>
            <a:off x="7498080" y="5212080"/>
            <a:ext cx="4114800" cy="502920"/>
          </a:xfrm>
          <a:prstGeom prst="roundRect">
            <a:avLst>
              <a:gd name="adj" fmla="val 36364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Satu form, dua jalur otomatis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Dampak terukur</a:t>
            </a:r>
            <a:endParaRPr lang="en-US" sz="3600" dirty="0"/>
          </a:p>
        </p:txBody>
      </p:sp>
      <p:sp>
        <p:nvSpPr>
          <p:cNvPr id="3" name="imp-card0"/>
          <p:cNvSpPr/>
          <p:nvPr/>
        </p:nvSpPr>
        <p:spPr>
          <a:xfrm>
            <a:off x="548640" y="1554480"/>
            <a:ext cx="3474720" cy="4480560"/>
          </a:xfrm>
          <a:prstGeom prst="roundRect">
            <a:avLst>
              <a:gd name="adj" fmla="val 394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4000"/>
              </a:srgbClr>
            </a:outerShdw>
          </a:effectLst>
        </p:spPr>
      </p:sp>
      <p:sp>
        <p:nvSpPr>
          <p:cNvPr id="4" name="imp-icon0"/>
          <p:cNvSpPr/>
          <p:nvPr/>
        </p:nvSpPr>
        <p:spPr>
          <a:xfrm>
            <a:off x="868680" y="1828800"/>
            <a:ext cx="822960" cy="8229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imp-icon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0345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834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chemeClr val="tx1"/>
                </a:solidFill>
              </a:rPr>
              <a:t>&lt; 5 dtk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Respons darurat instan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5262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Triase hipoglikemia turun dari 15–30 menit (konsultasi manual) menjadi &lt; 5 detik.</a:t>
            </a:r>
            <a:endParaRPr lang="en-US" sz="1500" dirty="0"/>
          </a:p>
        </p:txBody>
      </p:sp>
      <p:sp>
        <p:nvSpPr>
          <p:cNvPr id="9" name="imp-card1"/>
          <p:cNvSpPr/>
          <p:nvPr/>
        </p:nvSpPr>
        <p:spPr>
          <a:xfrm>
            <a:off x="4343400" y="1554480"/>
            <a:ext cx="3474720" cy="4480560"/>
          </a:xfrm>
          <a:prstGeom prst="roundRect">
            <a:avLst>
              <a:gd name="adj" fmla="val 394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4000"/>
              </a:srgbClr>
            </a:outerShdw>
          </a:effectLst>
        </p:spPr>
      </p:sp>
      <p:sp>
        <p:nvSpPr>
          <p:cNvPr id="10" name="imp-icon1"/>
          <p:cNvSpPr/>
          <p:nvPr/>
        </p:nvSpPr>
        <p:spPr>
          <a:xfrm>
            <a:off x="4663440" y="1828800"/>
            <a:ext cx="822960" cy="8229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1" name="imp-icon1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0345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2834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chemeClr val="tx1"/>
                </a:solidFill>
              </a:rPr>
              <a:t>100%</a:t>
            </a:r>
            <a:endParaRPr lang="en-US" sz="52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Safety compliance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45262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Halusinasi model pada kondisi darurat dieliminasi lewat isolasi cabang logika deterministik.</a:t>
            </a:r>
            <a:endParaRPr lang="en-US" sz="1500" dirty="0"/>
          </a:p>
        </p:txBody>
      </p:sp>
      <p:sp>
        <p:nvSpPr>
          <p:cNvPr id="15" name="imp-card2"/>
          <p:cNvSpPr/>
          <p:nvPr/>
        </p:nvSpPr>
        <p:spPr>
          <a:xfrm>
            <a:off x="8138160" y="1554480"/>
            <a:ext cx="3474720" cy="4480560"/>
          </a:xfrm>
          <a:prstGeom prst="roundRect">
            <a:avLst>
              <a:gd name="adj" fmla="val 394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4000"/>
              </a:srgbClr>
            </a:outerShdw>
          </a:effectLst>
        </p:spPr>
      </p:sp>
      <p:sp>
        <p:nvSpPr>
          <p:cNvPr id="16" name="imp-icon2"/>
          <p:cNvSpPr/>
          <p:nvPr/>
        </p:nvSpPr>
        <p:spPr>
          <a:xfrm>
            <a:off x="8458200" y="1828800"/>
            <a:ext cx="822960" cy="8229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7" name="imp-icon2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0" y="20345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58200" y="2834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chemeClr val="tx1"/>
                </a:solidFill>
              </a:rPr>
              <a:t>↓ Beban</a:t>
            </a:r>
            <a:endParaRPr lang="en-US" sz="5200" dirty="0"/>
          </a:p>
        </p:txBody>
      </p:sp>
      <p:sp>
        <p:nvSpPr>
          <p:cNvPr id="19" name="Text 14"/>
          <p:cNvSpPr txBox="1"/>
          <p:nvPr/>
        </p:nvSpPr>
        <p:spPr>
          <a:xfrm>
            <a:off x="845820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Efisiensi faskes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45262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Panggilan berulang ke poli penyakit dalam untuk menu &amp; kepatuhan obat dasar berkurang.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Roadmap &amp; visi ke depan</a:t>
            </a:r>
            <a:endParaRPr lang="en-US" sz="3600" dirty="0"/>
          </a:p>
        </p:txBody>
      </p:sp>
      <p:sp>
        <p:nvSpPr>
          <p:cNvPr id="3" name="phase-card0"/>
          <p:cNvSpPr/>
          <p:nvPr/>
        </p:nvSpPr>
        <p:spPr>
          <a:xfrm>
            <a:off x="548640" y="1554480"/>
            <a:ext cx="3474720" cy="3063240"/>
          </a:xfrm>
          <a:prstGeom prst="roundRect">
            <a:avLst>
              <a:gd name="adj" fmla="val 44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phase-chip0"/>
          <p:cNvSpPr txBox="1"/>
          <p:nvPr/>
        </p:nvSpPr>
        <p:spPr>
          <a:xfrm>
            <a:off x="822960" y="1783080"/>
            <a:ext cx="29260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FASE 1 · SAAT INI</a:t>
            </a:r>
            <a:endParaRPr lang="en-US" sz="1200" dirty="0"/>
          </a:p>
        </p:txBody>
      </p:sp>
      <p:sp>
        <p:nvSpPr>
          <p:cNvPr id="5" name="phase-icon0"/>
          <p:cNvSpPr/>
          <p:nvPr/>
        </p:nvSpPr>
        <p:spPr>
          <a:xfrm>
            <a:off x="822960" y="2377440"/>
            <a:ext cx="731520" cy="7315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6" name="phase-icon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560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Web assistant mandiri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Terhubung ke backend Langflow dan Astra DB.</a:t>
            </a:r>
            <a:endParaRPr lang="en-US" sz="1500" dirty="0"/>
          </a:p>
        </p:txBody>
      </p:sp>
      <p:sp>
        <p:nvSpPr>
          <p:cNvPr id="9" name="phase-card1"/>
          <p:cNvSpPr/>
          <p:nvPr/>
        </p:nvSpPr>
        <p:spPr>
          <a:xfrm>
            <a:off x="4343400" y="1554480"/>
            <a:ext cx="3474720" cy="3063240"/>
          </a:xfrm>
          <a:prstGeom prst="roundRect">
            <a:avLst>
              <a:gd name="adj" fmla="val 44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phase-chip1"/>
          <p:cNvSpPr txBox="1"/>
          <p:nvPr/>
        </p:nvSpPr>
        <p:spPr>
          <a:xfrm>
            <a:off x="4617720" y="1783080"/>
            <a:ext cx="29260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FASE 2 · JANGKA PENDEK</a:t>
            </a:r>
            <a:endParaRPr lang="en-US" sz="1200" dirty="0"/>
          </a:p>
        </p:txBody>
      </p:sp>
      <p:sp>
        <p:nvSpPr>
          <p:cNvPr id="11" name="phase-icon1"/>
          <p:cNvSpPr/>
          <p:nvPr/>
        </p:nvSpPr>
        <p:spPr>
          <a:xfrm>
            <a:off x="4617720" y="2377440"/>
            <a:ext cx="731520" cy="7315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2" name="phase-icon1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560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Integrasi CGM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Webhook CGM untuk alert otomatis real-time.</a:t>
            </a:r>
            <a:endParaRPr lang="en-US" sz="1500" dirty="0"/>
          </a:p>
        </p:txBody>
      </p:sp>
      <p:sp>
        <p:nvSpPr>
          <p:cNvPr id="15" name="phase-card2"/>
          <p:cNvSpPr/>
          <p:nvPr/>
        </p:nvSpPr>
        <p:spPr>
          <a:xfrm>
            <a:off x="8138160" y="1554480"/>
            <a:ext cx="3474720" cy="3063240"/>
          </a:xfrm>
          <a:prstGeom prst="roundRect">
            <a:avLst>
              <a:gd name="adj" fmla="val 44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phase-chip2"/>
          <p:cNvSpPr txBox="1"/>
          <p:nvPr/>
        </p:nvSpPr>
        <p:spPr>
          <a:xfrm>
            <a:off x="8412480" y="1783080"/>
            <a:ext cx="292608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FASE 3 · SKALABILITAS B2B</a:t>
            </a:r>
            <a:endParaRPr lang="en-US" sz="1200" dirty="0"/>
          </a:p>
        </p:txBody>
      </p:sp>
      <p:sp>
        <p:nvSpPr>
          <p:cNvPr id="17" name="phase-icon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pic>
        <p:nvPicPr>
          <p:cNvPr id="18" name="phase-icon2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5603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1248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Integrasi EHR/FHIR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Modul pra-kunjungan rawat jalan di RS dan klinik.</a:t>
            </a:r>
            <a:endParaRPr lang="en-US" sz="1500" dirty="0"/>
          </a:p>
        </p:txBody>
      </p:sp>
      <p:sp>
        <p:nvSpPr>
          <p:cNvPr id="21" name="closing-band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4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868680" y="48463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“Membantu pasien diabetes mengambil keputusan yang aman, setiap hari, setiap detik.”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7589520" y="48463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GitHub</a:t>
            </a:r>
            <a:endParaRPr lang="en-US" sz="1400" dirty="0"/>
          </a:p>
          <a:p>
            <a:pPr indent="0" marL="0">
              <a:buNone/>
            </a:pPr>
            <a:r>
              <a:rPr lang="en-US" sz="1400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github.com/FarhanTZ/glupulse_langflow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Kontak: [nama tim · email]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uPulse">
  <a:themeElements>
    <a:clrScheme name="GluPulse">
      <a:dk1>
        <a:srgbClr val="0F172A"/>
      </a:dk1>
      <a:lt1>
        <a:srgbClr val="FFFFFF"/>
      </a:lt1>
      <a:dk2>
        <a:srgbClr val="475569"/>
      </a:dk2>
      <a:lt2>
        <a:srgbClr val="FFF1F3"/>
      </a:lt2>
      <a:accent1>
        <a:srgbClr val="E11D48"/>
      </a:accent1>
      <a:accent2>
        <a:srgbClr val="9F1239"/>
      </a:accent2>
      <a:accent3>
        <a:srgbClr val="15803D"/>
      </a:accent3>
      <a:accent4>
        <a:srgbClr val="F59E0B"/>
      </a:accent4>
      <a:accent5>
        <a:srgbClr val="0EA5E9"/>
      </a:accent5>
      <a:accent6>
        <a:srgbClr val="64748B"/>
      </a:accent6>
      <a:hlink>
        <a:srgbClr val="E11D48"/>
      </a:hlink>
      <a:folHlink>
        <a:srgbClr val="9F1239"/>
      </a:folHlink>
    </a:clrScheme>
    <a:fontScheme name="GluPul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GluPulse AI</dc:title>
  <dc:subject>PptxGenJS Presentation</dc:subject>
  <dc:creator>GluPulse AI</dc:creator>
  <cp:lastModifiedBy>GluPulse AI</cp:lastModifiedBy>
  <cp:revision>1</cp:revision>
  <dcterms:created xsi:type="dcterms:W3CDTF">2026-10-10T10:45:39Z</dcterms:created>
  <dcterms:modified xsi:type="dcterms:W3CDTF">2026-10-10T10:45:39Z</dcterms:modified>
</cp:coreProperties>
</file>